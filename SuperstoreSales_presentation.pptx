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743b0994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743b0994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43b099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43b099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743b099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743b099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743b0994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743b099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43b0994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743b0994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43b0994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43b0994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3" y="8889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chemeClr val="dk1"/>
                </a:highlight>
              </a:rPr>
              <a:t>Superstore Sales: Data Storytelling and Business Insights</a:t>
            </a:r>
            <a:r>
              <a:rPr b="1" lang="en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789025" y="2939233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8608">
                <a:solidFill>
                  <a:srgbClr val="FF0000"/>
                </a:solidFill>
              </a:rPr>
              <a:t>Internship Task 9</a:t>
            </a:r>
            <a:br>
              <a:rPr b="1" lang="en" sz="8608">
                <a:solidFill>
                  <a:srgbClr val="FF0000"/>
                </a:solidFill>
              </a:rPr>
            </a:br>
            <a:r>
              <a:rPr b="1" lang="en" sz="8608">
                <a:solidFill>
                  <a:srgbClr val="FF0000"/>
                </a:solidFill>
              </a:rPr>
              <a:t> Data Storytelling and Business Insights</a:t>
            </a:r>
            <a:endParaRPr b="1" sz="8608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8608">
                <a:solidFill>
                  <a:srgbClr val="FF0000"/>
                </a:solidFill>
              </a:rPr>
              <a:t>Tools: Python, Pandas, Matplotlib, Seaborn</a:t>
            </a:r>
            <a:endParaRPr b="1" sz="8608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Business Objective &amp; Dataset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5725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563">
                <a:solidFill>
                  <a:srgbClr val="FF0000"/>
                </a:solidFill>
              </a:rPr>
              <a:t>Business Objective</a:t>
            </a:r>
            <a:endParaRPr b="1" sz="156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lang="en" sz="1513">
                <a:solidFill>
                  <a:srgbClr val="FF0000"/>
                </a:solidFill>
              </a:rPr>
              <a:t>Analyze sales performance across products, regions, and customer segments.</a:t>
            </a:r>
            <a:endParaRPr sz="151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lang="en" sz="1513">
                <a:solidFill>
                  <a:srgbClr val="FF0000"/>
                </a:solidFill>
              </a:rPr>
              <a:t>Identify high- and low-performing areas.</a:t>
            </a:r>
            <a:endParaRPr sz="151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lang="en" sz="1513">
                <a:solidFill>
                  <a:srgbClr val="FF0000"/>
                </a:solidFill>
              </a:rPr>
              <a:t>Understand order patterns and sales trends over time.</a:t>
            </a:r>
            <a:endParaRPr sz="151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lang="en" sz="1513">
                <a:solidFill>
                  <a:srgbClr val="FF0000"/>
                </a:solidFill>
              </a:rPr>
              <a:t>Identify opportunities for business growth and improvement.</a:t>
            </a:r>
            <a:endParaRPr sz="151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lang="en" sz="1513">
                <a:solidFill>
                  <a:srgbClr val="FF0000"/>
                </a:solidFill>
              </a:rPr>
              <a:t>Support data-driven business decision-making.</a:t>
            </a:r>
            <a:endParaRPr sz="1513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563">
                <a:solidFill>
                  <a:srgbClr val="FF0000"/>
                </a:solidFill>
              </a:rPr>
              <a:t>Dataset Overview</a:t>
            </a:r>
            <a:endParaRPr b="1" sz="156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b="1" lang="en" sz="1513">
                <a:solidFill>
                  <a:srgbClr val="FF0000"/>
                </a:solidFill>
              </a:rPr>
              <a:t>9,800 records</a:t>
            </a:r>
            <a:endParaRPr b="1" sz="151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b="1" lang="en" sz="1513">
                <a:solidFill>
                  <a:srgbClr val="FF0000"/>
                </a:solidFill>
              </a:rPr>
              <a:t>18 columns</a:t>
            </a:r>
            <a:endParaRPr b="1" sz="151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lang="en" sz="1513">
                <a:solidFill>
                  <a:srgbClr val="FF0000"/>
                </a:solidFill>
              </a:rPr>
              <a:t>Contains information about customers, products, sales, regions, shipping, and orders.</a:t>
            </a:r>
            <a:endParaRPr sz="1513">
              <a:solidFill>
                <a:srgbClr val="FF0000"/>
              </a:solidFill>
            </a:endParaRPr>
          </a:p>
          <a:p>
            <a:pPr indent="-32464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13"/>
              <a:buChar char="●"/>
            </a:pPr>
            <a:r>
              <a:rPr lang="en" sz="1513">
                <a:solidFill>
                  <a:srgbClr val="FF0000"/>
                </a:solidFill>
              </a:rPr>
              <a:t>Analysis performed using </a:t>
            </a:r>
            <a:r>
              <a:rPr b="1" lang="en" sz="1513">
                <a:solidFill>
                  <a:srgbClr val="FF0000"/>
                </a:solidFill>
              </a:rPr>
              <a:t>Python, Pandas, Matplotlib and Seaborn</a:t>
            </a:r>
            <a:r>
              <a:rPr lang="en" sz="1513">
                <a:solidFill>
                  <a:srgbClr val="FF0000"/>
                </a:solidFill>
              </a:rPr>
              <a:t>.</a:t>
            </a:r>
            <a:endParaRPr sz="1513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525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331300" y="274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Product Performance 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331300" y="973175"/>
            <a:ext cx="7812000" cy="40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8">
                <a:solidFill>
                  <a:srgbClr val="FF0000"/>
                </a:solidFill>
              </a:rPr>
              <a:t>Key Findings</a:t>
            </a:r>
            <a:endParaRPr b="1" sz="560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408">
                <a:solidFill>
                  <a:srgbClr val="FF0000"/>
                </a:solidFill>
              </a:rPr>
              <a:t>Technology — Highest Revenue Category</a:t>
            </a:r>
            <a:endParaRPr b="1" sz="5408">
              <a:solidFill>
                <a:srgbClr val="FF0000"/>
              </a:solidFill>
            </a:endParaRPr>
          </a:p>
          <a:p>
            <a:pPr indent="-314447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" sz="5408">
                <a:solidFill>
                  <a:srgbClr val="FF0000"/>
                </a:solidFill>
              </a:rPr>
              <a:t>Total Sales: </a:t>
            </a:r>
            <a:r>
              <a:rPr b="1" lang="en" sz="5408">
                <a:solidFill>
                  <a:srgbClr val="FF0000"/>
                </a:solidFill>
              </a:rPr>
              <a:t>$827,455.87</a:t>
            </a:r>
            <a:endParaRPr b="1" sz="5408">
              <a:solidFill>
                <a:srgbClr val="FF0000"/>
              </a:solidFill>
            </a:endParaRPr>
          </a:p>
          <a:p>
            <a:pPr indent="-31444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" sz="5408">
                <a:solidFill>
                  <a:srgbClr val="FF0000"/>
                </a:solidFill>
              </a:rPr>
              <a:t>Followed by Furniture: </a:t>
            </a:r>
            <a:r>
              <a:rPr b="1" lang="en" sz="5408">
                <a:solidFill>
                  <a:srgbClr val="FF0000"/>
                </a:solidFill>
              </a:rPr>
              <a:t>$728,658.58</a:t>
            </a:r>
            <a:endParaRPr b="1" sz="5408">
              <a:solidFill>
                <a:srgbClr val="FF0000"/>
              </a:solidFill>
            </a:endParaRPr>
          </a:p>
          <a:p>
            <a:pPr indent="-31444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" sz="5408">
                <a:solidFill>
                  <a:srgbClr val="FF0000"/>
                </a:solidFill>
              </a:rPr>
              <a:t>Office Supplies: </a:t>
            </a:r>
            <a:r>
              <a:rPr b="1" lang="en" sz="5408">
                <a:solidFill>
                  <a:srgbClr val="FF0000"/>
                </a:solidFill>
              </a:rPr>
              <a:t>$705,422.33</a:t>
            </a:r>
            <a:endParaRPr b="1" sz="540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408">
                <a:solidFill>
                  <a:srgbClr val="FF0000"/>
                </a:solidFill>
              </a:rPr>
              <a:t>Phones — Highest Revenue Sub-Category</a:t>
            </a:r>
            <a:endParaRPr b="1" sz="5408">
              <a:solidFill>
                <a:srgbClr val="FF0000"/>
              </a:solidFill>
            </a:endParaRPr>
          </a:p>
          <a:p>
            <a:pPr indent="-314447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" sz="5408">
                <a:solidFill>
                  <a:srgbClr val="FF0000"/>
                </a:solidFill>
              </a:rPr>
              <a:t>Total Sales: </a:t>
            </a:r>
            <a:r>
              <a:rPr b="1" lang="en" sz="5408">
                <a:solidFill>
                  <a:srgbClr val="FF0000"/>
                </a:solidFill>
              </a:rPr>
              <a:t>$327,782.45</a:t>
            </a:r>
            <a:endParaRPr b="1" sz="5408">
              <a:solidFill>
                <a:srgbClr val="FF0000"/>
              </a:solidFill>
            </a:endParaRPr>
          </a:p>
          <a:p>
            <a:pPr indent="-31444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" sz="5408">
                <a:solidFill>
                  <a:srgbClr val="FF0000"/>
                </a:solidFill>
              </a:rPr>
              <a:t>Chairs followed closely: </a:t>
            </a:r>
            <a:r>
              <a:rPr b="1" lang="en" sz="5408">
                <a:solidFill>
                  <a:srgbClr val="FF0000"/>
                </a:solidFill>
              </a:rPr>
              <a:t>$322,822.73</a:t>
            </a:r>
            <a:endParaRPr b="1" sz="540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8">
                <a:solidFill>
                  <a:srgbClr val="FF0000"/>
                </a:solidFill>
              </a:rPr>
              <a:t>Business Takeaway</a:t>
            </a:r>
            <a:endParaRPr b="1" sz="560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408">
                <a:solidFill>
                  <a:srgbClr val="FF0000"/>
                </a:solidFill>
              </a:rPr>
              <a:t>Technology and its high-performing sub-categories are important contributors to overall revenue and should be monitored for further growth opportunities.</a:t>
            </a:r>
            <a:endParaRPr b="1" sz="5408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5" title="Category_Wise_S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00" y="274100"/>
            <a:ext cx="2115026" cy="15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title="Subcategory_wise_sa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4875" y="2042075"/>
            <a:ext cx="2208875" cy="16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250500" y="2485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R</a:t>
            </a:r>
            <a:r>
              <a:rPr b="1" lang="en" sz="2500">
                <a:solidFill>
                  <a:schemeClr val="dk2"/>
                </a:solidFill>
              </a:rPr>
              <a:t>egional &amp; Customer Performance </a:t>
            </a:r>
            <a:endParaRPr b="1" sz="2500">
              <a:solidFill>
                <a:schemeClr val="dk2"/>
              </a:solidFill>
            </a:endParaRPr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250500" y="7539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523">
                <a:solidFill>
                  <a:srgbClr val="FF0000"/>
                </a:solidFill>
              </a:rPr>
              <a:t>Regional Performance</a:t>
            </a:r>
            <a:endParaRPr b="1" sz="1523">
              <a:solidFill>
                <a:srgbClr val="FF0000"/>
              </a:solidFill>
            </a:endParaRPr>
          </a:p>
          <a:p>
            <a:pPr indent="-321151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458"/>
              <a:buChar char="●"/>
            </a:pPr>
            <a:r>
              <a:rPr b="1" lang="en" sz="1458">
                <a:solidFill>
                  <a:srgbClr val="FF0000"/>
                </a:solidFill>
              </a:rPr>
              <a:t>West:</a:t>
            </a:r>
            <a:r>
              <a:rPr lang="en" sz="1458">
                <a:solidFill>
                  <a:srgbClr val="FF0000"/>
                </a:solidFill>
              </a:rPr>
              <a:t> $710,219.68 — Highest</a:t>
            </a:r>
            <a:endParaRPr sz="1458">
              <a:solidFill>
                <a:srgbClr val="FF0000"/>
              </a:solidFill>
            </a:endParaRPr>
          </a:p>
          <a:p>
            <a:pPr indent="-321151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58"/>
              <a:buChar char="●"/>
            </a:pPr>
            <a:r>
              <a:rPr b="1" lang="en" sz="1458">
                <a:solidFill>
                  <a:srgbClr val="FF0000"/>
                </a:solidFill>
              </a:rPr>
              <a:t>East:</a:t>
            </a:r>
            <a:r>
              <a:rPr lang="en" sz="1458">
                <a:solidFill>
                  <a:srgbClr val="FF0000"/>
                </a:solidFill>
              </a:rPr>
              <a:t> $669,518.73</a:t>
            </a:r>
            <a:endParaRPr sz="1458">
              <a:solidFill>
                <a:srgbClr val="FF0000"/>
              </a:solidFill>
            </a:endParaRPr>
          </a:p>
          <a:p>
            <a:pPr indent="-321151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58"/>
              <a:buChar char="●"/>
            </a:pPr>
            <a:r>
              <a:rPr b="1" lang="en" sz="1458">
                <a:solidFill>
                  <a:srgbClr val="FF0000"/>
                </a:solidFill>
              </a:rPr>
              <a:t>Central:</a:t>
            </a:r>
            <a:r>
              <a:rPr lang="en" sz="1458">
                <a:solidFill>
                  <a:srgbClr val="FF0000"/>
                </a:solidFill>
              </a:rPr>
              <a:t> $492,646.91</a:t>
            </a:r>
            <a:endParaRPr sz="1458">
              <a:solidFill>
                <a:srgbClr val="FF0000"/>
              </a:solidFill>
            </a:endParaRPr>
          </a:p>
          <a:p>
            <a:pPr indent="-321151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58"/>
              <a:buChar char="●"/>
            </a:pPr>
            <a:r>
              <a:rPr b="1" lang="en" sz="1458">
                <a:solidFill>
                  <a:srgbClr val="FF0000"/>
                </a:solidFill>
              </a:rPr>
              <a:t>South:</a:t>
            </a:r>
            <a:r>
              <a:rPr lang="en" sz="1458">
                <a:solidFill>
                  <a:srgbClr val="FF0000"/>
                </a:solidFill>
              </a:rPr>
              <a:t> $389,151.46 — Lowest</a:t>
            </a:r>
            <a:endParaRPr sz="145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523">
                <a:solidFill>
                  <a:srgbClr val="FF0000"/>
                </a:solidFill>
              </a:rPr>
              <a:t>Customer Segment Performance</a:t>
            </a:r>
            <a:endParaRPr b="1" sz="1523">
              <a:solidFill>
                <a:srgbClr val="FF0000"/>
              </a:solidFill>
            </a:endParaRPr>
          </a:p>
          <a:p>
            <a:pPr indent="-321151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458"/>
              <a:buChar char="●"/>
            </a:pPr>
            <a:r>
              <a:rPr b="1" lang="en" sz="1458">
                <a:solidFill>
                  <a:srgbClr val="FF0000"/>
                </a:solidFill>
              </a:rPr>
              <a:t>Consumer:</a:t>
            </a:r>
            <a:r>
              <a:rPr lang="en" sz="1458">
                <a:solidFill>
                  <a:srgbClr val="FF0000"/>
                </a:solidFill>
              </a:rPr>
              <a:t> ~$1.148M — Highest</a:t>
            </a:r>
            <a:endParaRPr sz="1458">
              <a:solidFill>
                <a:srgbClr val="FF0000"/>
              </a:solidFill>
            </a:endParaRPr>
          </a:p>
          <a:p>
            <a:pPr indent="-321151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58"/>
              <a:buChar char="●"/>
            </a:pPr>
            <a:r>
              <a:rPr b="1" lang="en" sz="1458">
                <a:solidFill>
                  <a:srgbClr val="FF0000"/>
                </a:solidFill>
              </a:rPr>
              <a:t>Corporate:</a:t>
            </a:r>
            <a:r>
              <a:rPr lang="en" sz="1458">
                <a:solidFill>
                  <a:srgbClr val="FF0000"/>
                </a:solidFill>
              </a:rPr>
              <a:t> ~$688K</a:t>
            </a:r>
            <a:endParaRPr sz="1458">
              <a:solidFill>
                <a:srgbClr val="FF0000"/>
              </a:solidFill>
            </a:endParaRPr>
          </a:p>
          <a:p>
            <a:pPr indent="-321151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58"/>
              <a:buChar char="●"/>
            </a:pPr>
            <a:r>
              <a:rPr b="1" lang="en" sz="1458">
                <a:solidFill>
                  <a:srgbClr val="FF0000"/>
                </a:solidFill>
              </a:rPr>
              <a:t>Home Office:</a:t>
            </a:r>
            <a:r>
              <a:rPr lang="en" sz="1458">
                <a:solidFill>
                  <a:srgbClr val="FF0000"/>
                </a:solidFill>
              </a:rPr>
              <a:t> ~$425K</a:t>
            </a:r>
            <a:endParaRPr sz="145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523">
                <a:solidFill>
                  <a:srgbClr val="FF0000"/>
                </a:solidFill>
              </a:rPr>
              <a:t>Business Takeaway</a:t>
            </a:r>
            <a:endParaRPr b="1" sz="1523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1458">
                <a:solidFill>
                  <a:srgbClr val="FF0000"/>
                </a:solidFill>
              </a:rPr>
              <a:t>West and Consumer segments are the strongest revenue contributors, while the South region and lower-performing customer segments present opportunities for further investigation and growth.</a:t>
            </a:r>
            <a:endParaRPr b="1" sz="1458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8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523">
              <a:solidFill>
                <a:srgbClr val="FF0000"/>
              </a:solidFill>
            </a:endParaRPr>
          </a:p>
        </p:txBody>
      </p:sp>
      <p:pic>
        <p:nvPicPr>
          <p:cNvPr id="150" name="Google Shape;150;p16" title="Region_wise_s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0375" y="248525"/>
            <a:ext cx="2182400" cy="16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title="customer_segment__wise_sa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375" y="2202775"/>
            <a:ext cx="2182400" cy="16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93625" y="220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Order Patterns &amp; Sales Trend</a:t>
            </a:r>
            <a:r>
              <a:rPr lang="en"/>
              <a:t> 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93625" y="7396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25">
                <a:solidFill>
                  <a:srgbClr val="FF0000"/>
                </a:solidFill>
              </a:rPr>
              <a:t>Order Performance</a:t>
            </a:r>
            <a:endParaRPr b="1" sz="1425">
              <a:solidFill>
                <a:srgbClr val="FF0000"/>
              </a:solidFill>
            </a:endParaRPr>
          </a:p>
          <a:p>
            <a:pPr indent="-31591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375"/>
              <a:buChar char="●"/>
            </a:pPr>
            <a:r>
              <a:rPr b="1" lang="en" sz="1375">
                <a:solidFill>
                  <a:srgbClr val="FF0000"/>
                </a:solidFill>
              </a:rPr>
              <a:t>Office Supplies:</a:t>
            </a:r>
            <a:r>
              <a:rPr lang="en" sz="1375">
                <a:solidFill>
                  <a:srgbClr val="FF0000"/>
                </a:solidFill>
              </a:rPr>
              <a:t> 3,676 unique orders</a:t>
            </a:r>
            <a:endParaRPr sz="1375">
              <a:solidFill>
                <a:srgbClr val="FF0000"/>
              </a:solidFill>
            </a:endParaRPr>
          </a:p>
          <a:p>
            <a:pPr indent="-31591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75"/>
              <a:buChar char="●"/>
            </a:pPr>
            <a:r>
              <a:rPr b="1" lang="en" sz="1375">
                <a:solidFill>
                  <a:srgbClr val="FF0000"/>
                </a:solidFill>
              </a:rPr>
              <a:t>Furniture:</a:t>
            </a:r>
            <a:r>
              <a:rPr lang="en" sz="1375">
                <a:solidFill>
                  <a:srgbClr val="FF0000"/>
                </a:solidFill>
              </a:rPr>
              <a:t> 1,727</a:t>
            </a:r>
            <a:endParaRPr sz="1375">
              <a:solidFill>
                <a:srgbClr val="FF0000"/>
              </a:solidFill>
            </a:endParaRPr>
          </a:p>
          <a:p>
            <a:pPr indent="-31591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75"/>
              <a:buChar char="●"/>
            </a:pPr>
            <a:r>
              <a:rPr b="1" lang="en" sz="1375">
                <a:solidFill>
                  <a:srgbClr val="FF0000"/>
                </a:solidFill>
              </a:rPr>
              <a:t>Technology:</a:t>
            </a:r>
            <a:r>
              <a:rPr lang="en" sz="1375">
                <a:solidFill>
                  <a:srgbClr val="FF0000"/>
                </a:solidFill>
              </a:rPr>
              <a:t> 1,519</a:t>
            </a:r>
            <a:endParaRPr sz="137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375">
                <a:solidFill>
                  <a:srgbClr val="FF0000"/>
                </a:solidFill>
              </a:rPr>
              <a:t>Interesting finding:</a:t>
            </a:r>
            <a:br>
              <a:rPr b="1" lang="en" sz="1375">
                <a:solidFill>
                  <a:srgbClr val="FF0000"/>
                </a:solidFill>
              </a:rPr>
            </a:br>
            <a:r>
              <a:rPr lang="en" sz="1375">
                <a:solidFill>
                  <a:srgbClr val="FF0000"/>
                </a:solidFill>
              </a:rPr>
              <a:t> Office Supplies has the </a:t>
            </a:r>
            <a:r>
              <a:rPr b="1" lang="en" sz="1375">
                <a:solidFill>
                  <a:srgbClr val="FF0000"/>
                </a:solidFill>
              </a:rPr>
              <a:t>highest order volume</a:t>
            </a:r>
            <a:r>
              <a:rPr lang="en" sz="1375">
                <a:solidFill>
                  <a:srgbClr val="FF0000"/>
                </a:solidFill>
              </a:rPr>
              <a:t>, while Technology has the </a:t>
            </a:r>
            <a:r>
              <a:rPr b="1" lang="en" sz="1375">
                <a:solidFill>
                  <a:srgbClr val="FF0000"/>
                </a:solidFill>
              </a:rPr>
              <a:t>highest revenue</a:t>
            </a:r>
            <a:r>
              <a:rPr lang="en" sz="1375">
                <a:solidFill>
                  <a:srgbClr val="FF0000"/>
                </a:solidFill>
              </a:rPr>
              <a:t>.</a:t>
            </a:r>
            <a:endParaRPr sz="137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25">
                <a:solidFill>
                  <a:srgbClr val="FF0000"/>
                </a:solidFill>
              </a:rPr>
              <a:t>Sales Trend</a:t>
            </a:r>
            <a:endParaRPr b="1" sz="1425">
              <a:solidFill>
                <a:srgbClr val="FF0000"/>
              </a:solidFill>
            </a:endParaRPr>
          </a:p>
          <a:p>
            <a:pPr indent="-31591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375"/>
              <a:buChar char="●"/>
            </a:pPr>
            <a:r>
              <a:rPr b="1" lang="en" sz="1375">
                <a:solidFill>
                  <a:srgbClr val="FF0000"/>
                </a:solidFill>
              </a:rPr>
              <a:t>2015:</a:t>
            </a:r>
            <a:r>
              <a:rPr lang="en" sz="1375">
                <a:solidFill>
                  <a:srgbClr val="FF0000"/>
                </a:solidFill>
              </a:rPr>
              <a:t> $479,856</a:t>
            </a:r>
            <a:endParaRPr sz="1375">
              <a:solidFill>
                <a:srgbClr val="FF0000"/>
              </a:solidFill>
            </a:endParaRPr>
          </a:p>
          <a:p>
            <a:pPr indent="-31591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75"/>
              <a:buChar char="●"/>
            </a:pPr>
            <a:r>
              <a:rPr b="1" lang="en" sz="1375">
                <a:solidFill>
                  <a:srgbClr val="FF0000"/>
                </a:solidFill>
              </a:rPr>
              <a:t>2016:</a:t>
            </a:r>
            <a:r>
              <a:rPr lang="en" sz="1375">
                <a:solidFill>
                  <a:srgbClr val="FF0000"/>
                </a:solidFill>
              </a:rPr>
              <a:t> $459,436</a:t>
            </a:r>
            <a:endParaRPr sz="1375">
              <a:solidFill>
                <a:srgbClr val="FF0000"/>
              </a:solidFill>
            </a:endParaRPr>
          </a:p>
          <a:p>
            <a:pPr indent="-31591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75"/>
              <a:buChar char="●"/>
            </a:pPr>
            <a:r>
              <a:rPr b="1" lang="en" sz="1375">
                <a:solidFill>
                  <a:srgbClr val="FF0000"/>
                </a:solidFill>
              </a:rPr>
              <a:t>2017:</a:t>
            </a:r>
            <a:r>
              <a:rPr lang="en" sz="1375">
                <a:solidFill>
                  <a:srgbClr val="FF0000"/>
                </a:solidFill>
              </a:rPr>
              <a:t> $600,193</a:t>
            </a:r>
            <a:endParaRPr sz="1375">
              <a:solidFill>
                <a:srgbClr val="FF0000"/>
              </a:solidFill>
            </a:endParaRPr>
          </a:p>
          <a:p>
            <a:pPr indent="-31591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75"/>
              <a:buChar char="●"/>
            </a:pPr>
            <a:r>
              <a:rPr b="1" lang="en" sz="1375">
                <a:solidFill>
                  <a:srgbClr val="FF0000"/>
                </a:solidFill>
              </a:rPr>
              <a:t>2018:</a:t>
            </a:r>
            <a:r>
              <a:rPr lang="en" sz="1375">
                <a:solidFill>
                  <a:srgbClr val="FF0000"/>
                </a:solidFill>
              </a:rPr>
              <a:t> $722,052 — Highest</a:t>
            </a:r>
            <a:endParaRPr sz="137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25">
                <a:solidFill>
                  <a:srgbClr val="FF0000"/>
                </a:solidFill>
              </a:rPr>
              <a:t>Business Takeaway</a:t>
            </a:r>
            <a:endParaRPr b="1" sz="142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375">
                <a:solidFill>
                  <a:srgbClr val="FF0000"/>
                </a:solidFill>
              </a:rPr>
              <a:t>Order volume and revenue contribution do not necessarily follow the same pattern, while overall sales show a positive trend over time.</a:t>
            </a:r>
            <a:endParaRPr b="1" sz="1375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575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625">
              <a:solidFill>
                <a:srgbClr val="FF0000"/>
              </a:solidFill>
            </a:endParaRPr>
          </a:p>
        </p:txBody>
      </p:sp>
      <p:pic>
        <p:nvPicPr>
          <p:cNvPr id="158" name="Google Shape;158;p17" title="Highest_number_of_orders_per_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800" y="283550"/>
            <a:ext cx="2201366" cy="16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title="Yearly_sa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725" y="2472875"/>
            <a:ext cx="2201366" cy="16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620125" y="419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Business Recommendations</a:t>
            </a:r>
            <a:r>
              <a:rPr lang="en"/>
              <a:t> 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620125" y="12088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553">
                <a:solidFill>
                  <a:srgbClr val="FF0000"/>
                </a:solidFill>
              </a:rPr>
              <a:t>1. Maintain Technology Performance</a:t>
            </a:r>
            <a:br>
              <a:rPr b="1" lang="en" sz="1553">
                <a:solidFill>
                  <a:srgbClr val="FF0000"/>
                </a:solidFill>
              </a:rPr>
            </a:br>
            <a:r>
              <a:rPr lang="en" sz="1553">
                <a:solidFill>
                  <a:srgbClr val="FF0000"/>
                </a:solidFill>
              </a:rPr>
              <a:t> Continue focusing on strong-performing Technology products and explore further growth opportunities.</a:t>
            </a:r>
            <a:endParaRPr sz="1553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553">
                <a:solidFill>
                  <a:srgbClr val="FF0000"/>
                </a:solidFill>
              </a:rPr>
              <a:t>2. Improve South Region Performance</a:t>
            </a:r>
            <a:br>
              <a:rPr b="1" lang="en" sz="1553">
                <a:solidFill>
                  <a:srgbClr val="FF0000"/>
                </a:solidFill>
              </a:rPr>
            </a:br>
            <a:r>
              <a:rPr lang="en" sz="1553">
                <a:solidFill>
                  <a:srgbClr val="FF0000"/>
                </a:solidFill>
              </a:rPr>
              <a:t> Investigate the reasons behind lower sales and identify targeted growth opportunities.</a:t>
            </a:r>
            <a:endParaRPr sz="1553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553">
                <a:solidFill>
                  <a:srgbClr val="FF0000"/>
                </a:solidFill>
              </a:rPr>
              <a:t>3. Increase Revenue from Office Supplies</a:t>
            </a:r>
            <a:br>
              <a:rPr b="1" lang="en" sz="1553">
                <a:solidFill>
                  <a:srgbClr val="FF0000"/>
                </a:solidFill>
              </a:rPr>
            </a:br>
            <a:r>
              <a:rPr lang="en" sz="1553">
                <a:solidFill>
                  <a:srgbClr val="FF0000"/>
                </a:solidFill>
              </a:rPr>
              <a:t> Explore ways to increase the value generated from the category's high order volume.</a:t>
            </a:r>
            <a:endParaRPr sz="1553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553">
                <a:solidFill>
                  <a:srgbClr val="FF0000"/>
                </a:solidFill>
              </a:rPr>
              <a:t>4. Strengthen Corporate &amp; Home Office Segments</a:t>
            </a:r>
            <a:br>
              <a:rPr b="1" lang="en" sz="1553">
                <a:solidFill>
                  <a:srgbClr val="FF0000"/>
                </a:solidFill>
              </a:rPr>
            </a:br>
            <a:r>
              <a:rPr lang="en" sz="1553">
                <a:solidFill>
                  <a:srgbClr val="FF0000"/>
                </a:solidFill>
              </a:rPr>
              <a:t> Explore strategies to increase revenue from lower-performing customer segments.</a:t>
            </a:r>
            <a:endParaRPr sz="1553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553">
                <a:solidFill>
                  <a:srgbClr val="FF0000"/>
                </a:solidFill>
              </a:rPr>
              <a:t>5. Sustain Sales Growth</a:t>
            </a:r>
            <a:br>
              <a:rPr b="1" lang="en" sz="1553">
                <a:solidFill>
                  <a:srgbClr val="FF0000"/>
                </a:solidFill>
              </a:rPr>
            </a:br>
            <a:r>
              <a:rPr lang="en" sz="1553">
                <a:solidFill>
                  <a:srgbClr val="FF0000"/>
                </a:solidFill>
              </a:rPr>
              <a:t> Maintain the positive sales momentum and investigate the factors behind the strong growth in 2017 and 2018.</a:t>
            </a:r>
            <a:endParaRPr sz="1553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508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506400" y="433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Conclusion 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506400" y="13477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en" sz="1700">
                <a:solidFill>
                  <a:srgbClr val="FF0000"/>
                </a:solidFill>
              </a:rPr>
              <a:t>Technology is the </a:t>
            </a:r>
            <a:r>
              <a:rPr b="1" lang="en" sz="1700">
                <a:solidFill>
                  <a:srgbClr val="FF0000"/>
                </a:solidFill>
              </a:rPr>
              <a:t>strongest revenue-generating category</a:t>
            </a:r>
            <a:r>
              <a:rPr lang="en" sz="1700">
                <a:solidFill>
                  <a:srgbClr val="FF0000"/>
                </a:solidFill>
              </a:rPr>
              <a:t>.</a:t>
            </a:r>
            <a:endParaRPr sz="1700">
              <a:solidFill>
                <a:srgbClr val="FF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en" sz="1700">
                <a:solidFill>
                  <a:srgbClr val="FF0000"/>
                </a:solidFill>
              </a:rPr>
              <a:t>Phones is the </a:t>
            </a:r>
            <a:r>
              <a:rPr b="1" lang="en" sz="1700">
                <a:solidFill>
                  <a:srgbClr val="FF0000"/>
                </a:solidFill>
              </a:rPr>
              <a:t>highest-revenue sub-category</a:t>
            </a:r>
            <a:r>
              <a:rPr lang="en" sz="1700">
                <a:solidFill>
                  <a:srgbClr val="FF0000"/>
                </a:solidFill>
              </a:rPr>
              <a:t>.</a:t>
            </a:r>
            <a:endParaRPr sz="1700">
              <a:solidFill>
                <a:srgbClr val="FF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en" sz="1700">
                <a:solidFill>
                  <a:srgbClr val="FF0000"/>
                </a:solidFill>
              </a:rPr>
              <a:t>West is the </a:t>
            </a:r>
            <a:r>
              <a:rPr b="1" lang="en" sz="1700">
                <a:solidFill>
                  <a:srgbClr val="FF0000"/>
                </a:solidFill>
              </a:rPr>
              <a:t>highest-performing region</a:t>
            </a:r>
            <a:r>
              <a:rPr lang="en" sz="1700">
                <a:solidFill>
                  <a:srgbClr val="FF0000"/>
                </a:solidFill>
              </a:rPr>
              <a:t>, while South requires greater attention.</a:t>
            </a:r>
            <a:endParaRPr sz="1700">
              <a:solidFill>
                <a:srgbClr val="FF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en" sz="1700">
                <a:solidFill>
                  <a:srgbClr val="FF0000"/>
                </a:solidFill>
              </a:rPr>
              <a:t>Consumer customers contribute the </a:t>
            </a:r>
            <a:r>
              <a:rPr b="1" lang="en" sz="1700">
                <a:solidFill>
                  <a:srgbClr val="FF0000"/>
                </a:solidFill>
              </a:rPr>
              <a:t>largest share of revenue</a:t>
            </a:r>
            <a:r>
              <a:rPr lang="en" sz="1700">
                <a:solidFill>
                  <a:srgbClr val="FF0000"/>
                </a:solidFill>
              </a:rPr>
              <a:t>.</a:t>
            </a:r>
            <a:endParaRPr sz="1700">
              <a:solidFill>
                <a:srgbClr val="FF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en" sz="1700">
                <a:solidFill>
                  <a:srgbClr val="FF0000"/>
                </a:solidFill>
              </a:rPr>
              <a:t>Office Supplies has the </a:t>
            </a:r>
            <a:r>
              <a:rPr b="1" lang="en" sz="1700">
                <a:solidFill>
                  <a:srgbClr val="FF0000"/>
                </a:solidFill>
              </a:rPr>
              <a:t>highest order volume</a:t>
            </a:r>
            <a:r>
              <a:rPr lang="en" sz="1700">
                <a:solidFill>
                  <a:srgbClr val="FF0000"/>
                </a:solidFill>
              </a:rPr>
              <a:t>, despite lower total revenue.</a:t>
            </a:r>
            <a:endParaRPr sz="1700">
              <a:solidFill>
                <a:srgbClr val="FF0000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en" sz="1700">
                <a:solidFill>
                  <a:srgbClr val="FF0000"/>
                </a:solidFill>
              </a:rPr>
              <a:t>Sales show an </a:t>
            </a:r>
            <a:r>
              <a:rPr b="1" lang="en" sz="1700">
                <a:solidFill>
                  <a:srgbClr val="FF0000"/>
                </a:solidFill>
              </a:rPr>
              <a:t>overall positive trend</a:t>
            </a:r>
            <a:r>
              <a:rPr lang="en" sz="1700">
                <a:solidFill>
                  <a:srgbClr val="FF0000"/>
                </a:solidFill>
              </a:rPr>
              <a:t>, with 2018 recording the highest sales.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FF0000"/>
                </a:solidFill>
              </a:rPr>
              <a:t>Final Takeaway</a:t>
            </a:r>
            <a:endParaRPr b="1" sz="19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F0000"/>
                </a:solidFill>
              </a:rPr>
              <a:t>The analysis highlights strong-performing areas and potential growth opportunities that can support more informed, data-driven business decisions.</a:t>
            </a:r>
            <a:endParaRPr b="1" sz="17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